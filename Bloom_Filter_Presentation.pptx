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C9"/>
    <a:srgbClr val="162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51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32401-7E00-0703-6385-F1DEDA9C45B8}"/>
              </a:ext>
            </a:extLst>
          </p:cNvPr>
          <p:cNvSpPr txBox="1"/>
          <p:nvPr userDrawn="1"/>
        </p:nvSpPr>
        <p:spPr>
          <a:xfrm>
            <a:off x="6899564" y="6003636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RJ Programming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52360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7763256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8074152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8385048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8695944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9006840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9317736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9628632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9939528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10250424" y="777240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10561320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10872216" y="777240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7452360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7763256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8074152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8385048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ounded Rectangle 17"/>
          <p:cNvSpPr/>
          <p:nvPr/>
        </p:nvSpPr>
        <p:spPr>
          <a:xfrm>
            <a:off x="8695944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9006840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ounded Rectangle 19"/>
          <p:cNvSpPr/>
          <p:nvPr/>
        </p:nvSpPr>
        <p:spPr>
          <a:xfrm>
            <a:off x="9317736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>
            <a:off x="9628632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ounded Rectangle 21"/>
          <p:cNvSpPr/>
          <p:nvPr/>
        </p:nvSpPr>
        <p:spPr>
          <a:xfrm>
            <a:off x="9939528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10250424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ounded Rectangle 23"/>
          <p:cNvSpPr/>
          <p:nvPr/>
        </p:nvSpPr>
        <p:spPr>
          <a:xfrm>
            <a:off x="10561320" y="1088136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24"/>
          <p:cNvSpPr/>
          <p:nvPr/>
        </p:nvSpPr>
        <p:spPr>
          <a:xfrm>
            <a:off x="10872216" y="1088136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ounded Rectangle 25"/>
          <p:cNvSpPr/>
          <p:nvPr/>
        </p:nvSpPr>
        <p:spPr>
          <a:xfrm>
            <a:off x="7452360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ounded Rectangle 26"/>
          <p:cNvSpPr/>
          <p:nvPr/>
        </p:nvSpPr>
        <p:spPr>
          <a:xfrm>
            <a:off x="7763256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ounded Rectangle 27"/>
          <p:cNvSpPr/>
          <p:nvPr/>
        </p:nvSpPr>
        <p:spPr>
          <a:xfrm>
            <a:off x="8074152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28"/>
          <p:cNvSpPr/>
          <p:nvPr/>
        </p:nvSpPr>
        <p:spPr>
          <a:xfrm>
            <a:off x="8385048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ounded Rectangle 29"/>
          <p:cNvSpPr/>
          <p:nvPr/>
        </p:nvSpPr>
        <p:spPr>
          <a:xfrm>
            <a:off x="8695944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ounded Rectangle 30"/>
          <p:cNvSpPr/>
          <p:nvPr/>
        </p:nvSpPr>
        <p:spPr>
          <a:xfrm>
            <a:off x="9006840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ounded Rectangle 31"/>
          <p:cNvSpPr/>
          <p:nvPr/>
        </p:nvSpPr>
        <p:spPr>
          <a:xfrm>
            <a:off x="9317736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32"/>
          <p:cNvSpPr/>
          <p:nvPr/>
        </p:nvSpPr>
        <p:spPr>
          <a:xfrm>
            <a:off x="9628632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ounded Rectangle 33"/>
          <p:cNvSpPr/>
          <p:nvPr/>
        </p:nvSpPr>
        <p:spPr>
          <a:xfrm>
            <a:off x="9939528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ounded Rectangle 34"/>
          <p:cNvSpPr/>
          <p:nvPr/>
        </p:nvSpPr>
        <p:spPr>
          <a:xfrm>
            <a:off x="10250424" y="1399032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ounded Rectangle 35"/>
          <p:cNvSpPr/>
          <p:nvPr/>
        </p:nvSpPr>
        <p:spPr>
          <a:xfrm>
            <a:off x="10561320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ounded Rectangle 36"/>
          <p:cNvSpPr/>
          <p:nvPr/>
        </p:nvSpPr>
        <p:spPr>
          <a:xfrm>
            <a:off x="10872216" y="1399032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ounded Rectangle 37"/>
          <p:cNvSpPr/>
          <p:nvPr/>
        </p:nvSpPr>
        <p:spPr>
          <a:xfrm>
            <a:off x="7452360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ounded Rectangle 38"/>
          <p:cNvSpPr/>
          <p:nvPr/>
        </p:nvSpPr>
        <p:spPr>
          <a:xfrm>
            <a:off x="7763256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ounded Rectangle 39"/>
          <p:cNvSpPr/>
          <p:nvPr/>
        </p:nvSpPr>
        <p:spPr>
          <a:xfrm>
            <a:off x="8074152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ounded Rectangle 40"/>
          <p:cNvSpPr/>
          <p:nvPr/>
        </p:nvSpPr>
        <p:spPr>
          <a:xfrm>
            <a:off x="8385048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ounded Rectangle 41"/>
          <p:cNvSpPr/>
          <p:nvPr/>
        </p:nvSpPr>
        <p:spPr>
          <a:xfrm>
            <a:off x="8695944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ounded Rectangle 42"/>
          <p:cNvSpPr/>
          <p:nvPr/>
        </p:nvSpPr>
        <p:spPr>
          <a:xfrm>
            <a:off x="9006840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Rounded Rectangle 43"/>
          <p:cNvSpPr/>
          <p:nvPr/>
        </p:nvSpPr>
        <p:spPr>
          <a:xfrm>
            <a:off x="9317736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ounded Rectangle 44"/>
          <p:cNvSpPr/>
          <p:nvPr/>
        </p:nvSpPr>
        <p:spPr>
          <a:xfrm>
            <a:off x="9628632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ounded Rectangle 45"/>
          <p:cNvSpPr/>
          <p:nvPr/>
        </p:nvSpPr>
        <p:spPr>
          <a:xfrm>
            <a:off x="9939528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ounded Rectangle 46"/>
          <p:cNvSpPr/>
          <p:nvPr/>
        </p:nvSpPr>
        <p:spPr>
          <a:xfrm>
            <a:off x="10250424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Rounded Rectangle 47"/>
          <p:cNvSpPr/>
          <p:nvPr/>
        </p:nvSpPr>
        <p:spPr>
          <a:xfrm>
            <a:off x="10561320" y="1709928"/>
            <a:ext cx="219456" cy="219456"/>
          </a:xfrm>
          <a:prstGeom prst="roundRect">
            <a:avLst/>
          </a:prstGeom>
          <a:solidFill>
            <a:srgbClr val="30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Rounded Rectangle 48"/>
          <p:cNvSpPr/>
          <p:nvPr/>
        </p:nvSpPr>
        <p:spPr>
          <a:xfrm>
            <a:off x="10872216" y="1709928"/>
            <a:ext cx="219456" cy="219456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822960" y="1234440"/>
            <a:ext cx="6400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5CCDCF"/>
                </a:solidFill>
                <a:latin typeface="Aptos"/>
              </a:defRPr>
            </a:pPr>
            <a:r>
              <a:t>DATA STRUCTURES • EMERGING TECHNOLOGY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1828800"/>
            <a:ext cx="676656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rPr sz="4800" dirty="0"/>
              <a:t>Bloom Filters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" y="2653234"/>
            <a:ext cx="6217920" cy="16594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DEE8F0"/>
                </a:solidFill>
                <a:latin typeface="Aptos"/>
              </a:defRPr>
            </a:pPr>
            <a:r>
              <a:rPr sz="3200" dirty="0"/>
              <a:t>Fast membership checking for</a:t>
            </a:r>
          </a:p>
          <a:p>
            <a:pPr>
              <a:spcAft>
                <a:spcPts val="700"/>
              </a:spcAft>
              <a:defRPr sz="2400" b="0">
                <a:solidFill>
                  <a:srgbClr val="DEE8F0"/>
                </a:solidFill>
                <a:latin typeface="Aptos"/>
              </a:defRPr>
            </a:pPr>
            <a:r>
              <a:rPr sz="3200" dirty="0"/>
              <a:t>cybersecurity and blockchain systems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" y="4434840"/>
            <a:ext cx="1051560" cy="64008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868680" y="4754880"/>
            <a:ext cx="65836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dirty="0"/>
              <a:t>C++ application concept: transaction / member checker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582264"/>
            <a:ext cx="59436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FBFCF"/>
                </a:solidFill>
                <a:latin typeface="Aptos"/>
              </a:defRPr>
            </a:pPr>
            <a:r>
              <a:rPr sz="1400" dirty="0"/>
              <a:t>Concept • Structure • Complexity • Applications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204A47-1849-605A-8CAA-42B7FB88738F}"/>
              </a:ext>
            </a:extLst>
          </p:cNvPr>
          <p:cNvSpPr txBox="1"/>
          <p:nvPr/>
        </p:nvSpPr>
        <p:spPr>
          <a:xfrm>
            <a:off x="9317735" y="5851476"/>
            <a:ext cx="2429505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RJ Programming</a:t>
            </a:r>
            <a:endParaRPr dirty="0"/>
          </a:p>
        </p:txBody>
      </p:sp>
      <p:pic>
        <p:nvPicPr>
          <p:cNvPr id="64" name="Audio 63">
            <a:hlinkClick r:id="" action="ppaction://media"/>
            <a:extLst>
              <a:ext uri="{FF2B5EF4-FFF2-40B4-BE49-F238E27FC236}">
                <a16:creationId xmlns:a16="http://schemas.microsoft.com/office/drawing/2014/main" id="{0457F4CE-236B-1F45-E875-23011FD87E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162"/>
    </mc:Choice>
    <mc:Fallback>
      <p:transition spd="slow" advTm="381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 dirty="0"/>
              <a:t>1. What is a Bloom Filter?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786384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/>
              <a:t>A compact, probabilistic membership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4864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5F6E7D"/>
                </a:solidFill>
                <a:latin typeface="Aptos"/>
              </a:defRPr>
            </a:pPr>
            <a:r>
              <a:rPr sz="2800"/>
              <a:t>It answers one 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99" y="1854855"/>
            <a:ext cx="5907025" cy="12003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9196"/>
                </a:solidFill>
                <a:latin typeface="Aptos"/>
              </a:defRPr>
            </a:pPr>
            <a:r>
              <a:rPr sz="3600" dirty="0"/>
              <a:t>“Could this item be in the set?”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23211"/>
            <a:ext cx="5729650" cy="2674578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•  Stores a bit array, not the original items.</a:t>
            </a:r>
          </a:p>
          <a:p>
            <a:pPr>
              <a:spcAft>
                <a:spcPts val="10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•  Uses several hash positions to represent each item.</a:t>
            </a:r>
          </a:p>
          <a:p>
            <a:pPr>
              <a:spcAft>
                <a:spcPts val="10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•  Returns either “definitely not present” or “possibly present.”</a:t>
            </a:r>
          </a:p>
          <a:p>
            <a:pPr>
              <a:spcAft>
                <a:spcPts val="10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•  A possible match can be a false positive.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7654" y="1508760"/>
            <a:ext cx="4663440" cy="141732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6907654" y="1508760"/>
            <a:ext cx="73152" cy="1417320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108821" y="1655063"/>
            <a:ext cx="43159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Definitely not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8821" y="2075688"/>
            <a:ext cx="4297679" cy="7053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At least one required bit is 0.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The item was not inserted.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7654" y="3246120"/>
            <a:ext cx="4663440" cy="141732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6907654" y="3246120"/>
            <a:ext cx="73152" cy="141732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108821" y="3392424"/>
            <a:ext cx="43159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Possibly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8821" y="3813048"/>
            <a:ext cx="4297679" cy="7053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All required bits are 1.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The item may be present—or a false positive.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4814" y="5074920"/>
            <a:ext cx="43891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rPr sz="1600"/>
              <a:t>Standard Bloom Filters do not produce false negatives when correctly maintained.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BB67154D-ABFE-1BD2-25F7-4014473EF1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398"/>
    </mc:Choice>
    <mc:Fallback>
      <p:transition spd="slow" advTm="453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2. How the data is organized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25712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/>
              <a:t>A bit array plus multiple hash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73768"/>
            <a:ext cx="3640394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642"/>
                </a:solidFill>
                <a:latin typeface="Aptos"/>
              </a:defRPr>
            </a:pPr>
            <a:r>
              <a:rPr sz="2400" dirty="0"/>
              <a:t>Example: add “TX1001”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33601"/>
            <a:ext cx="1920240" cy="731520"/>
          </a:xfrm>
          <a:prstGeom prst="roundRect">
            <a:avLst/>
          </a:prstGeom>
          <a:solidFill>
            <a:srgbClr val="EDF6F7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68680" y="2334769"/>
            <a:ext cx="1645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62642"/>
                </a:solidFill>
                <a:latin typeface="Aptos"/>
              </a:defRPr>
            </a:pPr>
            <a:r>
              <a:rPr sz="2800"/>
              <a:t>TX1001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77569"/>
            <a:ext cx="1828800" cy="566928"/>
          </a:xfrm>
          <a:prstGeom prst="roundRect">
            <a:avLst/>
          </a:prstGeom>
          <a:solidFill>
            <a:srgbClr val="E4F0F4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456432" y="1996441"/>
            <a:ext cx="1508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Hash 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51760" y="2161032"/>
            <a:ext cx="640080" cy="338329"/>
          </a:xfrm>
          <a:prstGeom prst="line">
            <a:avLst/>
          </a:prstGeom>
          <a:ln w="2286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40" y="2910841"/>
            <a:ext cx="1828800" cy="566928"/>
          </a:xfrm>
          <a:prstGeom prst="roundRect">
            <a:avLst/>
          </a:prstGeom>
          <a:solidFill>
            <a:srgbClr val="E4F0F4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456432" y="3029713"/>
            <a:ext cx="1508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rPr dirty="0"/>
              <a:t>Hash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2499361"/>
            <a:ext cx="640080" cy="694944"/>
          </a:xfrm>
          <a:prstGeom prst="line">
            <a:avLst/>
          </a:prstGeom>
          <a:ln w="2286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91840" y="3944113"/>
            <a:ext cx="1828800" cy="566928"/>
          </a:xfrm>
          <a:prstGeom prst="roundRect">
            <a:avLst/>
          </a:prstGeom>
          <a:solidFill>
            <a:srgbClr val="E4F0F4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456432" y="4062985"/>
            <a:ext cx="1508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62642"/>
                </a:solidFill>
                <a:latin typeface="Aptos"/>
              </a:defRPr>
            </a:pPr>
            <a:r>
              <a:t>Hash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499361"/>
            <a:ext cx="640080" cy="1728216"/>
          </a:xfrm>
          <a:prstGeom prst="line">
            <a:avLst/>
          </a:prstGeom>
          <a:ln w="2286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97880" y="1280160"/>
            <a:ext cx="512064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642"/>
                </a:solidFill>
                <a:latin typeface="Aptos"/>
              </a:defRPr>
            </a:pPr>
            <a:r>
              <a:rPr sz="2400"/>
              <a:t>Bit array (illustrative)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943600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011680"/>
            <a:ext cx="283464" cy="502920"/>
          </a:xfrm>
          <a:prstGeom prst="rect">
            <a:avLst/>
          </a:prstGeom>
          <a:solidFill>
            <a:srgbClr val="009196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277356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/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1112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6611112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4868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944868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8624" y="2011680"/>
            <a:ext cx="283464" cy="502920"/>
          </a:xfrm>
          <a:prstGeom prst="rect">
            <a:avLst/>
          </a:prstGeom>
          <a:solidFill>
            <a:srgbClr val="009196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7278624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/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12379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612379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6136" y="2011680"/>
            <a:ext cx="283464" cy="502920"/>
          </a:xfrm>
          <a:prstGeom prst="rect">
            <a:avLst/>
          </a:prstGeom>
          <a:solidFill>
            <a:srgbClr val="009196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7946136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/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9892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8279892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13648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8613648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47404" y="2011680"/>
            <a:ext cx="283464" cy="502920"/>
          </a:xfrm>
          <a:prstGeom prst="rect">
            <a:avLst/>
          </a:prstGeom>
          <a:solidFill>
            <a:srgbClr val="009196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8947404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/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9281160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14916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9614916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48672" y="2011680"/>
            <a:ext cx="283464" cy="502920"/>
          </a:xfrm>
          <a:prstGeom prst="rect">
            <a:avLst/>
          </a:prstGeom>
          <a:solidFill>
            <a:srgbClr val="009196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9948672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/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2428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TextBox 45"/>
          <p:cNvSpPr txBox="1"/>
          <p:nvPr/>
        </p:nvSpPr>
        <p:spPr>
          <a:xfrm>
            <a:off x="10282428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16184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/>
          <p:cNvSpPr txBox="1"/>
          <p:nvPr/>
        </p:nvSpPr>
        <p:spPr>
          <a:xfrm>
            <a:off x="10616184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49940" y="2011680"/>
            <a:ext cx="283464" cy="502920"/>
          </a:xfrm>
          <a:prstGeom prst="rect">
            <a:avLst/>
          </a:prstGeom>
          <a:solidFill>
            <a:srgbClr val="F2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10949940" y="2130552"/>
            <a:ext cx="28346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5F6E7D"/>
                </a:solidFill>
                <a:latin typeface="Aptos"/>
              </a:defRPr>
            </a:pPr>
            <a:r>
              <a:rPr sz="1600"/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9068" y="2633472"/>
            <a:ext cx="329184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09196"/>
                </a:solidFill>
                <a:latin typeface="Aptos"/>
              </a:defRPr>
            </a:pPr>
            <a:r>
              <a:rPr sz="1400"/>
              <a:t>h1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7848" y="2633472"/>
            <a:ext cx="329184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09196"/>
                </a:solidFill>
                <a:latin typeface="Aptos"/>
              </a:defRPr>
            </a:pPr>
            <a:r>
              <a:rPr sz="1400"/>
              <a:t>h2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29116" y="2633472"/>
            <a:ext cx="329184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009196"/>
                </a:solidFill>
                <a:latin typeface="Aptos"/>
              </a:defRPr>
            </a:pPr>
            <a:r>
              <a:rPr sz="1400"/>
              <a:t>h3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3200400"/>
            <a:ext cx="5394960" cy="7053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Each hash maps the item to a bit position.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Adding an item sets those positions to 1.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4754880"/>
            <a:ext cx="10607040" cy="9144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Rectangle 55"/>
          <p:cNvSpPr/>
          <p:nvPr/>
        </p:nvSpPr>
        <p:spPr>
          <a:xfrm>
            <a:off x="777240" y="4754880"/>
            <a:ext cx="73152" cy="9144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978408" y="4901184"/>
            <a:ext cx="1025956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Key idea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" y="5321808"/>
            <a:ext cx="102412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Different items can map to overlapping positions. The filter remembers the bit pattern, not which item set each bit.</a:t>
            </a:r>
          </a:p>
        </p:txBody>
      </p:sp>
      <p:pic>
        <p:nvPicPr>
          <p:cNvPr id="60" name="Audio 59">
            <a:hlinkClick r:id="" action="ppaction://media"/>
            <a:extLst>
              <a:ext uri="{FF2B5EF4-FFF2-40B4-BE49-F238E27FC236}">
                <a16:creationId xmlns:a16="http://schemas.microsoft.com/office/drawing/2014/main" id="{F9C82B6C-CC7D-95A5-D0E8-1AF68D9E80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157"/>
    </mc:Choice>
    <mc:Fallback>
      <p:transition spd="slow" advTm="531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3. Major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72748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19042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 dirty="0"/>
              <a:t>Insert, query, and initialize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32004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2004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31272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1 • Initialize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3108960" cy="1669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Choose: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bit-array size (m)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number of hash functions (k)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expected number of items and target error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32004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3200400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1272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2 • Insert(item)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108960" cy="140807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Run each hash function.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Set every resulting bit to 1.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Existing 1 bits stay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32004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320040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1272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3 • Query(item)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3108960" cy="10567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Check each resulting bit.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Any 0 → definitely absent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All 1s → possibly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143" y="5074920"/>
            <a:ext cx="1156933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CD5050"/>
                </a:solidFill>
                <a:latin typeface="Aptos"/>
              </a:defRPr>
            </a:pPr>
            <a:r>
              <a:rPr sz="2400" dirty="0"/>
              <a:t>Standard Bloom Filters are append-only: individual items cannot be safely deleted.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E1F9FEC8-E2AB-FE71-256A-424F91A2E7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977"/>
    </mc:Choice>
    <mc:Fallback>
      <p:transition spd="slow" advTm="51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4. Time complexity and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94520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29928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 dirty="0"/>
              <a:t>Performance depends mainly on the number of hash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2743200" cy="658368"/>
          </a:xfrm>
          <a:prstGeom prst="rect">
            <a:avLst/>
          </a:prstGeom>
          <a:solidFill>
            <a:srgbClr val="162642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523744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417320"/>
            <a:ext cx="1828800" cy="658368"/>
          </a:xfrm>
          <a:prstGeom prst="rect">
            <a:avLst/>
          </a:prstGeom>
          <a:solidFill>
            <a:srgbClr val="162642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3630168" y="1581912"/>
            <a:ext cx="1609344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417320"/>
            <a:ext cx="5943600" cy="658368"/>
          </a:xfrm>
          <a:prstGeom prst="rect">
            <a:avLst/>
          </a:prstGeom>
          <a:solidFill>
            <a:srgbClr val="162642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458968" y="1581912"/>
            <a:ext cx="5724144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075688"/>
            <a:ext cx="27432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86968" y="2240280"/>
            <a:ext cx="25237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075688"/>
            <a:ext cx="18288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630168" y="2240280"/>
            <a:ext cx="16093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O(m)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2075688"/>
            <a:ext cx="59436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458968" y="2240280"/>
            <a:ext cx="57241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Create / clear m bits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34056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86968" y="2898648"/>
            <a:ext cx="25237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Insert one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3630168" y="2898648"/>
            <a:ext cx="16093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O(k)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734056"/>
            <a:ext cx="5943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5458968" y="2898648"/>
            <a:ext cx="57241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Compute k hash positions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92424"/>
            <a:ext cx="27432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886968" y="3557016"/>
            <a:ext cx="25237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Membership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392424"/>
            <a:ext cx="18288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3630168" y="3557016"/>
            <a:ext cx="16093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O(k)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3392424"/>
            <a:ext cx="5943600" cy="658368"/>
          </a:xfrm>
          <a:prstGeom prst="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5458968" y="3557016"/>
            <a:ext cx="57241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Check up to k positions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050791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886968" y="4215383"/>
            <a:ext cx="25237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050791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3630168" y="4215383"/>
            <a:ext cx="16093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O(m) bits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4050791"/>
            <a:ext cx="5943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5458968" y="4215383"/>
            <a:ext cx="572414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Fixed-size bit array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74920"/>
            <a:ext cx="5120640" cy="1120926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822960" y="5074920"/>
            <a:ext cx="73152" cy="8686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1024128" y="5221224"/>
            <a:ext cx="47731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Symbols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641848"/>
            <a:ext cx="4754879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dirty="0"/>
              <a:t>m = number of bits   •   k = number of hash functions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074920"/>
            <a:ext cx="4983480" cy="1120926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ectangle 40"/>
          <p:cNvSpPr/>
          <p:nvPr/>
        </p:nvSpPr>
        <p:spPr>
          <a:xfrm>
            <a:off x="6217920" y="5074920"/>
            <a:ext cx="73152" cy="86868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TextBox 41"/>
          <p:cNvSpPr txBox="1"/>
          <p:nvPr/>
        </p:nvSpPr>
        <p:spPr>
          <a:xfrm>
            <a:off x="6419088" y="5221224"/>
            <a:ext cx="463600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Practical note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641848"/>
            <a:ext cx="461772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Query time is independent of the total item count for a single fixed filter.</a:t>
            </a:r>
          </a:p>
        </p:txBody>
      </p:sp>
      <p:pic>
        <p:nvPicPr>
          <p:cNvPr id="45" name="Audio 44">
            <a:hlinkClick r:id="" action="ppaction://media"/>
            <a:extLst>
              <a:ext uri="{FF2B5EF4-FFF2-40B4-BE49-F238E27FC236}">
                <a16:creationId xmlns:a16="http://schemas.microsoft.com/office/drawing/2014/main" id="{D2C4CEA9-89FF-9BE2-ABCD-F2F1E01E20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698"/>
    </mc:Choice>
    <mc:Fallback>
      <p:transition spd="slow" advTm="596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5. Accuracy: false positives and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19042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 dirty="0"/>
              <a:t>A Bloom Filter trades certainty for compactness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20640" cy="1801142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4863" cy="1695994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78408" y="1563624"/>
            <a:ext cx="47731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False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754879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An item was never inserted, but all its tested bits happen to be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1801142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1695994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464807" y="1563624"/>
            <a:ext cx="477316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 dirty="0"/>
              <a:t>No false negatives (standard filter)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21713"/>
            <a:ext cx="4754879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 dirty="0"/>
              <a:t>An inserted item’s positions remain 1, so it will not be reported absent.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50292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False-positive probability (approx.)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50292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09196"/>
                </a:solidFill>
                <a:latin typeface="Aptos"/>
              </a:defRPr>
            </a:pPr>
            <a:r>
              <a:rPr sz="3200"/>
              <a:t>p ≈ (1 − e^(−kn/m))ᵏ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512064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F6E7D"/>
                </a:solidFill>
                <a:latin typeface="Aptos"/>
              </a:defRPr>
            </a:pPr>
            <a:r>
              <a:t>m = bits   •   n = inserted items   •   k = hash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80"/>
            <a:ext cx="5120640" cy="20574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6263640" y="3383280"/>
            <a:ext cx="73152" cy="18288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464807" y="3529584"/>
            <a:ext cx="47731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How to reduce false positives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950208"/>
            <a:ext cx="4754879" cy="134652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Allocate more bits per item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Choose k carefully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Size the filter for expected volume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Monitor growth and rebuild/scale when needed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7A9C0EE5-F6BF-2823-077B-4B7A0A8F88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820"/>
    </mc:Choice>
    <mc:Fallback>
      <p:transition spd="slow" advTm="598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6. Advantages, limits, and best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29928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/>
              <a:t>Use it as a fast first-pass filter—not a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356616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78408" y="1563624"/>
            <a:ext cx="481888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800600" cy="22082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Very memory-efficient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Fast insertion and lookup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Works well for very large sets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Helps avoid unnecessary disk or network lookups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356616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35661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464807" y="1563624"/>
            <a:ext cx="481888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84248"/>
            <a:ext cx="4800600" cy="30367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False positives are possible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Original items cannot be retrieved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Standard form does not support safe deletion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Accuracy declines as the filter fills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rPr sz="2400"/>
              <a:t>• Hashing and sizing must be chosen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1" y="5349240"/>
            <a:ext cx="104698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2642"/>
                </a:solidFill>
                <a:latin typeface="Aptos"/>
              </a:defRPr>
            </a:pPr>
            <a:r>
              <a:rPr sz="2400" dirty="0"/>
              <a:t>Best fit: quick screening when a false positive can be checked elsewhere.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71D0A716-93FC-5D92-B269-93257A9FA5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788"/>
    </mc:Choice>
    <mc:Fallback>
      <p:transition spd="slow" advTm="567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7. 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19042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/>
              <a:t>The same idea supports several kinds of large-scale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520440" cy="333756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3375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31729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Databases &amp;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1705"/>
            <a:ext cx="3154680" cy="11387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A filter can check whether a key may exist before reading data from disk. Definite negatives can avoid expensive lookups.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33756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3337560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Web services &amp;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87021"/>
            <a:ext cx="3154680" cy="11387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Check whether a username, email, or identifier may already be registered before querying the main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520440" cy="333756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73152" cy="333756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156448" y="1563624"/>
            <a:ext cx="3172968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Streaming &amp; advertising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76136"/>
            <a:ext cx="3154680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rPr dirty="0"/>
              <a:t>Screen for previously seen items, such as events or ads, without storing every full identifier in a large in-memory 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42416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Industry example: Redis provides Bloom Filter commands such as BF.ADD and BF.EXISTS.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1014984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 dirty="0"/>
              <a:t>Reference: redis.io/docs/latest/develop/data-types/probabilistic/bloom-filter/</a:t>
            </a:r>
          </a:p>
        </p:txBody>
      </p:sp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795FF312-97B7-0622-9539-91DAF63F01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565"/>
    </mc:Choice>
    <mc:Fallback>
      <p:transition spd="slow" advTm="675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200"/>
              <a:t>8. Cybersecurity &amp; blockchain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828800" y="808156"/>
            <a:ext cx="9509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400"/>
              <a:t>A real-world fit: filtering relevant data efficiently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539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050"/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18288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91032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000"/>
              <a:t>Bitcoin: BIP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489204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sz="1600"/>
              <a:t>Describes Bloom filtering so lightweight clients can receive transactions relevant to their wallet, reducing unnecessary data transfer. Modern Bitcoin Core disables peer Bloom filters by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182880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3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19088" y="1472184"/>
            <a:ext cx="491032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000"/>
              <a:t>Ethereum: logsBloom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7"/>
            <a:ext cx="489204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sz="1600"/>
              <a:t>Ethereum receipts include a 2048-bit Bloom filter summarizing log addresses and topics, helping clients screen for potentially relevant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04241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2642"/>
                </a:solidFill>
                <a:latin typeface="Aptos"/>
              </a:defRPr>
            </a:pPr>
            <a:r>
              <a:rPr sz="2400"/>
              <a:t>Proposed C++ application: fast transaction/member 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1828800" cy="1051560"/>
          </a:xfrm>
          <a:prstGeom prst="roundRect">
            <a:avLst/>
          </a:prstGeom>
          <a:solidFill>
            <a:srgbClr val="EDF6F7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rPr sz="1600"/>
              <a:t>Incoming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6459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400"/>
              <a:t>TX1005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4251960"/>
            <a:ext cx="1828800" cy="1051560"/>
          </a:xfrm>
          <a:prstGeom prst="roundRect">
            <a:avLst/>
          </a:prstGeom>
          <a:solidFill>
            <a:srgbClr val="EDF6F7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3246120" y="4407408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rPr sz="1600"/>
              <a:t>Bloom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754880"/>
            <a:ext cx="16459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400"/>
              <a:t>Hash + bit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4251960"/>
            <a:ext cx="1828800" cy="1051560"/>
          </a:xfrm>
          <a:prstGeom prst="roundRect">
            <a:avLst/>
          </a:prstGeom>
          <a:solidFill>
            <a:srgbClr val="EDF6F7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5577840" y="4407408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rPr sz="1600"/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754880"/>
            <a:ext cx="16459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400"/>
              <a:t>Absent / Possible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251960"/>
            <a:ext cx="1828800" cy="1051560"/>
          </a:xfrm>
          <a:prstGeom prst="roundRect">
            <a:avLst/>
          </a:prstGeom>
          <a:solidFill>
            <a:srgbClr val="EDF6F7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7909560" y="4407408"/>
            <a:ext cx="1645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62642"/>
                </a:solidFill>
                <a:latin typeface="Aptos"/>
              </a:defRPr>
            </a:pPr>
            <a:r>
              <a:rPr sz="1600"/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754880"/>
            <a:ext cx="16459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400"/>
              <a:t>Check real 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4773168"/>
            <a:ext cx="365760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0" y="4773168"/>
            <a:ext cx="365760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60920" y="4773168"/>
            <a:ext cx="365760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5715000"/>
            <a:ext cx="10332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D5050"/>
                </a:solidFill>
                <a:latin typeface="Aptos"/>
              </a:defRPr>
            </a:pPr>
            <a:r>
              <a:t>A positive result is only a warning to verify—not proof of a duplicate or valid transaction.</a:t>
            </a:r>
          </a:p>
        </p:txBody>
      </p:sp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D42037BA-CFA9-B182-72FE-5AD02B4C5F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009"/>
    </mc:Choice>
    <mc:Fallback>
      <p:transition spd="slow" advTm="780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rPr sz="3600"/>
              <a:t>9. Key takeaways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50976"/>
            <a:ext cx="1051560" cy="5486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828800" y="819042"/>
            <a:ext cx="95097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E7D"/>
                </a:solidFill>
                <a:latin typeface="Aptos"/>
              </a:defRPr>
            </a:pPr>
            <a:r>
              <a:rPr sz="1600"/>
              <a:t>A small structure that can save large amounts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E7D"/>
                </a:solidFill>
                <a:latin typeface="Aptos"/>
              </a:defRPr>
            </a:pPr>
            <a:r>
              <a:rPr sz="1100"/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4846320" cy="141732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73152" cy="14173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78408" y="1426463"/>
            <a:ext cx="449884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47088"/>
            <a:ext cx="4480559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Fast membership screening • compact bit array • possible false positives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280160"/>
            <a:ext cx="5349240" cy="1417320"/>
          </a:xfrm>
          <a:prstGeom prst="roundRect">
            <a:avLst/>
          </a:prstGeom>
          <a:solidFill>
            <a:srgbClr val="EDF6F7"/>
          </a:solidFill>
          <a:ln>
            <a:solidFill>
              <a:srgbClr val="DC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5989320" y="1280160"/>
            <a:ext cx="73152" cy="1417320"/>
          </a:xfrm>
          <a:prstGeom prst="rect">
            <a:avLst/>
          </a:prstGeom>
          <a:solidFill>
            <a:srgbClr val="EF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190488" y="1426463"/>
            <a:ext cx="500176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62642"/>
                </a:solidFill>
                <a:latin typeface="Aptos"/>
              </a:defRPr>
            </a:pPr>
            <a:r>
              <a:rPr sz="2400"/>
              <a:t>Use responsibly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847088"/>
            <a:ext cx="4983479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A positive result requires authoritative verification in security-sensitive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60704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62642"/>
                </a:solidFill>
                <a:latin typeface="Aptos"/>
              </a:defRPr>
            </a:pPr>
            <a:r>
              <a:rPr sz="2400"/>
              <a:t>Credible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5257800" cy="2331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Redis documentation — Bloom Filter concepts and commands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https://redis.io/docs/latest/develop/data-types/probabilistic/bloom-filter/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Bitcoin Improvement Proposal 37 — Connection Bloom filtering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https://github.com/bitcoin/bips/blob/master/bip-0037.mediawiki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474720"/>
            <a:ext cx="5029200" cy="15029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Ethereum Yellow Paper — transaction receipts and logsBloom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https://ethereum.github.io/yellowpaper/paper.pdf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rPr sz="1600"/>
              <a:t>B. H. Bloom (1970), “Space/Time Trade-offs in Hash Coding with Allowable Errors.”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102412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009196"/>
                </a:solidFill>
                <a:latin typeface="Aptos"/>
              </a:defRPr>
            </a:pPr>
            <a:r>
              <a:t>Conclusion: use Bloom Filters to accelerate checks, not to replace verification.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9FA54C4D-C68B-5BFE-236B-4B3F2B3505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149"/>
    </mc:Choice>
    <mc:Fallback>
      <p:transition spd="slow" advTm="601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1042</Words>
  <Application>Microsoft Office PowerPoint</Application>
  <PresentationFormat>Widescreen</PresentationFormat>
  <Paragraphs>169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Rajendra Joshi</dc:creator>
  <cp:keywords/>
  <dc:description>generated using python-pptx</dc:description>
  <cp:lastModifiedBy>Rajendra Joshi</cp:lastModifiedBy>
  <cp:revision>6</cp:revision>
  <dcterms:created xsi:type="dcterms:W3CDTF">2013-01-27T09:14:16Z</dcterms:created>
  <dcterms:modified xsi:type="dcterms:W3CDTF">2026-10-22T16:01:45Z</dcterms:modified>
  <cp:category/>
</cp:coreProperties>
</file>